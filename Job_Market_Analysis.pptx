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0" r:id="rId3"/>
    <p:sldMasterId id="2147483714" r:id="rId4"/>
  </p:sldMasterIdLst>
  <p:notesMasterIdLst>
    <p:notesMasterId r:id="rId30"/>
  </p:notesMasterIdLst>
  <p:sldIdLst>
    <p:sldId id="280" r:id="rId5"/>
    <p:sldId id="281" r:id="rId6"/>
    <p:sldId id="282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83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AA5"/>
    <a:srgbClr val="7EC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817C2-77DF-4086-BC68-736B7B1D8AF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FD808-3452-46EA-95CC-AEFC005DF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15075" y="1701540"/>
            <a:ext cx="6323700" cy="3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30025" y="5622233"/>
            <a:ext cx="2608800" cy="7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641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662488" y="4530453"/>
            <a:ext cx="6134700" cy="14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32400" y="304784"/>
            <a:ext cx="12684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9403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7704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414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1876098" y="1927177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Zalando Sans Expanded Light"/>
                <a:ea typeface="Zalando Sans Expanded Light"/>
                <a:cs typeface="Zalando Sans Expanded Light"/>
                <a:sym typeface="Zalando Sans Expande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1876098" y="4341281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Zalando Sans Expanded Light"/>
                <a:ea typeface="Zalando Sans Expanded Light"/>
                <a:cs typeface="Zalando Sans Expanded Light"/>
                <a:sym typeface="Zalando Sans Expand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1876098" y="2583141"/>
            <a:ext cx="5334000" cy="10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1876098" y="4997244"/>
            <a:ext cx="5334000" cy="10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6939000" y="393352"/>
            <a:ext cx="1976400" cy="99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787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6630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141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3998400" cy="192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1609625" y="2754833"/>
            <a:ext cx="38241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3222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388100" y="1742800"/>
            <a:ext cx="6367800" cy="3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665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720064" y="2106833"/>
            <a:ext cx="3597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2"/>
          </p:nvPr>
        </p:nvSpPr>
        <p:spPr>
          <a:xfrm>
            <a:off x="4826936" y="2106833"/>
            <a:ext cx="3597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314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228600" y="6028467"/>
            <a:ext cx="2822700" cy="52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677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603800"/>
            <a:ext cx="65760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3755000"/>
            <a:ext cx="65760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365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2679677" y="2469616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2679677" y="3331228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2679677" y="4192839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2679677" y="5054449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6424027" y="2469616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6424027" y="3331227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6424027" y="4192837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6424027" y="5054448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hasCustomPrompt="1"/>
          </p:nvPr>
        </p:nvSpPr>
        <p:spPr>
          <a:xfrm>
            <a:off x="1865669" y="5163100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 hasCustomPrompt="1"/>
          </p:nvPr>
        </p:nvSpPr>
        <p:spPr>
          <a:xfrm>
            <a:off x="1865669" y="3439611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3" hasCustomPrompt="1"/>
          </p:nvPr>
        </p:nvSpPr>
        <p:spPr>
          <a:xfrm>
            <a:off x="1866497" y="2578267"/>
            <a:ext cx="8643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4" hasCustomPrompt="1"/>
          </p:nvPr>
        </p:nvSpPr>
        <p:spPr>
          <a:xfrm>
            <a:off x="1865669" y="4301356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5" hasCustomPrompt="1"/>
          </p:nvPr>
        </p:nvSpPr>
        <p:spPr>
          <a:xfrm>
            <a:off x="5622706" y="3439875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6" hasCustomPrompt="1"/>
          </p:nvPr>
        </p:nvSpPr>
        <p:spPr>
          <a:xfrm>
            <a:off x="5622705" y="4301483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7" hasCustomPrompt="1"/>
          </p:nvPr>
        </p:nvSpPr>
        <p:spPr>
          <a:xfrm>
            <a:off x="5622707" y="516309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8" hasCustomPrompt="1"/>
          </p:nvPr>
        </p:nvSpPr>
        <p:spPr>
          <a:xfrm>
            <a:off x="5622706" y="2578267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9"/>
          </p:nvPr>
        </p:nvSpPr>
        <p:spPr>
          <a:xfrm>
            <a:off x="4498925" y="366300"/>
            <a:ext cx="44166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8938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18908" y="629000"/>
            <a:ext cx="7486800" cy="160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2908788" y="3198767"/>
            <a:ext cx="5562600" cy="30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8917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228600" y="397060"/>
            <a:ext cx="5320800" cy="166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943650" y="3077747"/>
            <a:ext cx="4359000" cy="2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Google Shape;78;p15"/>
          <p:cNvSpPr>
            <a:spLocks noGrp="1"/>
          </p:cNvSpPr>
          <p:nvPr>
            <p:ph type="pic" idx="2"/>
          </p:nvPr>
        </p:nvSpPr>
        <p:spPr>
          <a:xfrm>
            <a:off x="6345175" y="0"/>
            <a:ext cx="27987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5377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28600" y="400620"/>
            <a:ext cx="2155200" cy="109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9979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313975" y="401733"/>
            <a:ext cx="4596600" cy="100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690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1963625" y="3484673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2"/>
          </p:nvPr>
        </p:nvSpPr>
        <p:spPr>
          <a:xfrm>
            <a:off x="1963625" y="1987221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3"/>
          </p:nvPr>
        </p:nvSpPr>
        <p:spPr>
          <a:xfrm>
            <a:off x="1963630" y="4982324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 hasCustomPrompt="1"/>
          </p:nvPr>
        </p:nvSpPr>
        <p:spPr>
          <a:xfrm>
            <a:off x="1333381" y="3611779"/>
            <a:ext cx="6789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 idx="4" hasCustomPrompt="1"/>
          </p:nvPr>
        </p:nvSpPr>
        <p:spPr>
          <a:xfrm>
            <a:off x="1333381" y="2114528"/>
            <a:ext cx="6777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 idx="5" hasCustomPrompt="1"/>
          </p:nvPr>
        </p:nvSpPr>
        <p:spPr>
          <a:xfrm>
            <a:off x="1333373" y="5109431"/>
            <a:ext cx="6789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 idx="6"/>
          </p:nvPr>
        </p:nvSpPr>
        <p:spPr>
          <a:xfrm>
            <a:off x="228600" y="397047"/>
            <a:ext cx="2022600" cy="10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2976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1119741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792087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1119741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3792087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5"/>
          </p:nvPr>
        </p:nvSpPr>
        <p:spPr>
          <a:xfrm>
            <a:off x="6464439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6"/>
          </p:nvPr>
        </p:nvSpPr>
        <p:spPr>
          <a:xfrm>
            <a:off x="6464439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4929950" y="400620"/>
            <a:ext cx="3985500" cy="101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7" hasCustomPrompt="1"/>
          </p:nvPr>
        </p:nvSpPr>
        <p:spPr>
          <a:xfrm>
            <a:off x="7222089" y="4675683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8" hasCustomPrompt="1"/>
          </p:nvPr>
        </p:nvSpPr>
        <p:spPr>
          <a:xfrm>
            <a:off x="7222089" y="237135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9" hasCustomPrompt="1"/>
          </p:nvPr>
        </p:nvSpPr>
        <p:spPr>
          <a:xfrm>
            <a:off x="4550487" y="2371752"/>
            <a:ext cx="8643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 idx="13" hasCustomPrompt="1"/>
          </p:nvPr>
        </p:nvSpPr>
        <p:spPr>
          <a:xfrm>
            <a:off x="4549737" y="4675683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title" idx="14" hasCustomPrompt="1"/>
          </p:nvPr>
        </p:nvSpPr>
        <p:spPr>
          <a:xfrm>
            <a:off x="1877391" y="237135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15" hasCustomPrompt="1"/>
          </p:nvPr>
        </p:nvSpPr>
        <p:spPr>
          <a:xfrm>
            <a:off x="1877391" y="4675684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94200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hasCustomPrompt="1"/>
          </p:nvPr>
        </p:nvSpPr>
        <p:spPr>
          <a:xfrm>
            <a:off x="621225" y="1275283"/>
            <a:ext cx="54480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"/>
          </p:nvPr>
        </p:nvSpPr>
        <p:spPr>
          <a:xfrm>
            <a:off x="621225" y="2131084"/>
            <a:ext cx="54480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title" idx="2" hasCustomPrompt="1"/>
          </p:nvPr>
        </p:nvSpPr>
        <p:spPr>
          <a:xfrm>
            <a:off x="621225" y="4187788"/>
            <a:ext cx="54480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3"/>
          </p:nvPr>
        </p:nvSpPr>
        <p:spPr>
          <a:xfrm>
            <a:off x="621225" y="5043532"/>
            <a:ext cx="54480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7951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5547600" y="484569"/>
            <a:ext cx="3367800" cy="21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1"/>
          </p:nvPr>
        </p:nvSpPr>
        <p:spPr>
          <a:xfrm>
            <a:off x="6143050" y="2590851"/>
            <a:ext cx="2772300" cy="1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1965625" y="5344233"/>
            <a:ext cx="3871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, and includes icons, infographics &amp; images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000" b="1" u="sng">
              <a:solidFill>
                <a:schemeClr val="accen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513430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14382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95851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83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955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/>
        </p:nvSpPr>
        <p:spPr>
          <a:xfrm>
            <a:off x="-75" y="-13700"/>
            <a:ext cx="9144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4479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Title and two column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-75" y="-13700"/>
            <a:ext cx="9144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728527" y="719333"/>
            <a:ext cx="33477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title" idx="2"/>
          </p:nvPr>
        </p:nvSpPr>
        <p:spPr>
          <a:xfrm>
            <a:off x="4977550" y="719333"/>
            <a:ext cx="3458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004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E78D-0CDE-5CD6-8ECD-A5A15C2A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54061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15075" y="1701540"/>
            <a:ext cx="6323700" cy="3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30025" y="5622233"/>
            <a:ext cx="2608800" cy="7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0832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662488" y="4530453"/>
            <a:ext cx="6134700" cy="14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32400" y="304784"/>
            <a:ext cx="12684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614298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7704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3845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1876098" y="1927177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Zalando Sans Expanded Light"/>
                <a:ea typeface="Zalando Sans Expanded Light"/>
                <a:cs typeface="Zalando Sans Expanded Light"/>
                <a:sym typeface="Zalando Sans Expande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1876098" y="4341281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Zalando Sans Expanded Light"/>
                <a:ea typeface="Zalando Sans Expanded Light"/>
                <a:cs typeface="Zalando Sans Expanded Light"/>
                <a:sym typeface="Zalando Sans Expand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1876098" y="2583141"/>
            <a:ext cx="5334000" cy="10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1876098" y="4997244"/>
            <a:ext cx="5334000" cy="10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6939000" y="393352"/>
            <a:ext cx="1976400" cy="99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30881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6630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8795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3998400" cy="192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1609625" y="2754833"/>
            <a:ext cx="38241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085674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388100" y="1742800"/>
            <a:ext cx="6367800" cy="3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6540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720064" y="2106833"/>
            <a:ext cx="3597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2"/>
          </p:nvPr>
        </p:nvSpPr>
        <p:spPr>
          <a:xfrm>
            <a:off x="4826936" y="2106833"/>
            <a:ext cx="3597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8048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228600" y="6028467"/>
            <a:ext cx="2822700" cy="52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5562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603800"/>
            <a:ext cx="65760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3755000"/>
            <a:ext cx="65760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57177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7409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2679677" y="2469616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2679677" y="3331228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2679677" y="4192839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2679677" y="5054449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6424027" y="2469616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6424027" y="3331227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6424027" y="4192837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6424027" y="5054448"/>
            <a:ext cx="2198100" cy="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hasCustomPrompt="1"/>
          </p:nvPr>
        </p:nvSpPr>
        <p:spPr>
          <a:xfrm>
            <a:off x="1865669" y="5163100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 hasCustomPrompt="1"/>
          </p:nvPr>
        </p:nvSpPr>
        <p:spPr>
          <a:xfrm>
            <a:off x="1865669" y="3439611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3" hasCustomPrompt="1"/>
          </p:nvPr>
        </p:nvSpPr>
        <p:spPr>
          <a:xfrm>
            <a:off x="1866497" y="2578267"/>
            <a:ext cx="8643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4" hasCustomPrompt="1"/>
          </p:nvPr>
        </p:nvSpPr>
        <p:spPr>
          <a:xfrm>
            <a:off x="1865669" y="4301356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5" hasCustomPrompt="1"/>
          </p:nvPr>
        </p:nvSpPr>
        <p:spPr>
          <a:xfrm>
            <a:off x="5622706" y="3439875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6" hasCustomPrompt="1"/>
          </p:nvPr>
        </p:nvSpPr>
        <p:spPr>
          <a:xfrm>
            <a:off x="5622705" y="4301483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7" hasCustomPrompt="1"/>
          </p:nvPr>
        </p:nvSpPr>
        <p:spPr>
          <a:xfrm>
            <a:off x="5622707" y="516309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8" hasCustomPrompt="1"/>
          </p:nvPr>
        </p:nvSpPr>
        <p:spPr>
          <a:xfrm>
            <a:off x="5622706" y="2578267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9"/>
          </p:nvPr>
        </p:nvSpPr>
        <p:spPr>
          <a:xfrm>
            <a:off x="4498925" y="366300"/>
            <a:ext cx="44166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7811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18908" y="629000"/>
            <a:ext cx="7486800" cy="160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2908788" y="3198767"/>
            <a:ext cx="5562600" cy="30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00455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228600" y="397060"/>
            <a:ext cx="5320800" cy="166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943650" y="3077747"/>
            <a:ext cx="4359000" cy="2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Google Shape;78;p15"/>
          <p:cNvSpPr>
            <a:spLocks noGrp="1"/>
          </p:cNvSpPr>
          <p:nvPr>
            <p:ph type="pic" idx="2"/>
          </p:nvPr>
        </p:nvSpPr>
        <p:spPr>
          <a:xfrm>
            <a:off x="6345175" y="0"/>
            <a:ext cx="27987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272528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28600" y="400620"/>
            <a:ext cx="2155200" cy="109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75538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313975" y="401733"/>
            <a:ext cx="4596600" cy="100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2512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1963625" y="3484673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2"/>
          </p:nvPr>
        </p:nvSpPr>
        <p:spPr>
          <a:xfrm>
            <a:off x="1963625" y="1987221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3"/>
          </p:nvPr>
        </p:nvSpPr>
        <p:spPr>
          <a:xfrm>
            <a:off x="1963630" y="4982324"/>
            <a:ext cx="53070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 hasCustomPrompt="1"/>
          </p:nvPr>
        </p:nvSpPr>
        <p:spPr>
          <a:xfrm>
            <a:off x="1333381" y="3611779"/>
            <a:ext cx="6789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 idx="4" hasCustomPrompt="1"/>
          </p:nvPr>
        </p:nvSpPr>
        <p:spPr>
          <a:xfrm>
            <a:off x="1333381" y="2114528"/>
            <a:ext cx="6777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 idx="5" hasCustomPrompt="1"/>
          </p:nvPr>
        </p:nvSpPr>
        <p:spPr>
          <a:xfrm>
            <a:off x="1333373" y="5109431"/>
            <a:ext cx="6789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 idx="6"/>
          </p:nvPr>
        </p:nvSpPr>
        <p:spPr>
          <a:xfrm>
            <a:off x="228600" y="397047"/>
            <a:ext cx="2022600" cy="10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3406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1119741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792087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1119741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3792087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5"/>
          </p:nvPr>
        </p:nvSpPr>
        <p:spPr>
          <a:xfrm>
            <a:off x="6464439" y="27416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6"/>
          </p:nvPr>
        </p:nvSpPr>
        <p:spPr>
          <a:xfrm>
            <a:off x="6464439" y="5059243"/>
            <a:ext cx="2381100" cy="8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4929950" y="400620"/>
            <a:ext cx="3985500" cy="101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7" hasCustomPrompt="1"/>
          </p:nvPr>
        </p:nvSpPr>
        <p:spPr>
          <a:xfrm>
            <a:off x="7222089" y="4675683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8" hasCustomPrompt="1"/>
          </p:nvPr>
        </p:nvSpPr>
        <p:spPr>
          <a:xfrm>
            <a:off x="7222089" y="237135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9" hasCustomPrompt="1"/>
          </p:nvPr>
        </p:nvSpPr>
        <p:spPr>
          <a:xfrm>
            <a:off x="4550487" y="2371752"/>
            <a:ext cx="8643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 idx="13" hasCustomPrompt="1"/>
          </p:nvPr>
        </p:nvSpPr>
        <p:spPr>
          <a:xfrm>
            <a:off x="4549737" y="4675683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title" idx="14" hasCustomPrompt="1"/>
          </p:nvPr>
        </p:nvSpPr>
        <p:spPr>
          <a:xfrm>
            <a:off x="1877391" y="2371352"/>
            <a:ext cx="865800" cy="4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15" hasCustomPrompt="1"/>
          </p:nvPr>
        </p:nvSpPr>
        <p:spPr>
          <a:xfrm>
            <a:off x="1877391" y="4675684"/>
            <a:ext cx="8658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  <a:latin typeface="Zalando Sans Expanded Medium"/>
                <a:ea typeface="Zalando Sans Expanded Medium"/>
                <a:cs typeface="Zalando Sans Expanded Medium"/>
                <a:sym typeface="Zalando Sans Expand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3509121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hasCustomPrompt="1"/>
          </p:nvPr>
        </p:nvSpPr>
        <p:spPr>
          <a:xfrm>
            <a:off x="621225" y="1275283"/>
            <a:ext cx="54480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"/>
          </p:nvPr>
        </p:nvSpPr>
        <p:spPr>
          <a:xfrm>
            <a:off x="621225" y="2131084"/>
            <a:ext cx="54480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title" idx="2" hasCustomPrompt="1"/>
          </p:nvPr>
        </p:nvSpPr>
        <p:spPr>
          <a:xfrm>
            <a:off x="621225" y="4187788"/>
            <a:ext cx="54480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3"/>
          </p:nvPr>
        </p:nvSpPr>
        <p:spPr>
          <a:xfrm>
            <a:off x="621225" y="5043532"/>
            <a:ext cx="54480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58326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5547600" y="484569"/>
            <a:ext cx="3367800" cy="21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0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1"/>
          </p:nvPr>
        </p:nvSpPr>
        <p:spPr>
          <a:xfrm>
            <a:off x="6143050" y="2590851"/>
            <a:ext cx="2772300" cy="1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1965625" y="5344233"/>
            <a:ext cx="3871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, and includes icons, infographics &amp; images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000" b="1" u="sng">
              <a:solidFill>
                <a:schemeClr val="accen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6946095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719159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0" y="-10800"/>
            <a:ext cx="9144000" cy="6879600"/>
          </a:xfrm>
          <a:prstGeom prst="rect">
            <a:avLst/>
          </a:prstGeom>
          <a:solidFill>
            <a:srgbClr val="4F5B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428804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470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9686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/>
        </p:nvSpPr>
        <p:spPr>
          <a:xfrm>
            <a:off x="-75" y="-13700"/>
            <a:ext cx="9144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32579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Title and two column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-75" y="-13700"/>
            <a:ext cx="9144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728527" y="719333"/>
            <a:ext cx="33477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title" idx="2"/>
          </p:nvPr>
        </p:nvSpPr>
        <p:spPr>
          <a:xfrm>
            <a:off x="4977550" y="719333"/>
            <a:ext cx="3458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06819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15075" y="1701540"/>
            <a:ext cx="6323700" cy="3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30025" y="5622233"/>
            <a:ext cx="2608800" cy="7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97290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9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21857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33468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72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Zalando Sans Expanded ExtraLight"/>
              <a:buNone/>
              <a:defRPr sz="2600">
                <a:solidFill>
                  <a:schemeClr val="dk1"/>
                </a:solidFill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4482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0509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F1949D-34A4-DC10-1038-BEFE7B874595}"/>
              </a:ext>
            </a:extLst>
          </p:cNvPr>
          <p:cNvSpPr txBox="1"/>
          <p:nvPr/>
        </p:nvSpPr>
        <p:spPr>
          <a:xfrm>
            <a:off x="785191" y="2648948"/>
            <a:ext cx="7404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Job Market Analysis</a:t>
            </a:r>
          </a:p>
        </p:txBody>
      </p:sp>
    </p:spTree>
    <p:extLst>
      <p:ext uri="{BB962C8B-B14F-4D97-AF65-F5344CB8AC3E}">
        <p14:creationId xmlns:p14="http://schemas.microsoft.com/office/powerpoint/2010/main" val="342427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90EE5-0152-FA57-63C7-EAA6E4A7FD2D}"/>
              </a:ext>
            </a:extLst>
          </p:cNvPr>
          <p:cNvSpPr txBox="1"/>
          <p:nvPr/>
        </p:nvSpPr>
        <p:spPr>
          <a:xfrm>
            <a:off x="397564" y="1536174"/>
            <a:ext cx="87464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Analyze job market trends using a dataset of 742 job postings, focusing on 42 key features including job title, salary estimate, company rating, location, required skills, and educational requirements.</a:t>
            </a:r>
          </a:p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 Utilize data from various sources to identify in-demand skills and qualifications for data-related roles.</a:t>
            </a:r>
          </a:p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 Explore job responsibilities, salary trends, and industry demands. Provide insights to help job seekers align their skills with market needs and assist employers in understanding hiring trends.</a:t>
            </a:r>
          </a:p>
          <a:p>
            <a:pPr>
              <a:buClr>
                <a:schemeClr val="bg1"/>
              </a:buClr>
              <a:buSzPct val="119000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marL="285750" indent="-285750">
              <a:buClr>
                <a:schemeClr val="bg1"/>
              </a:buClr>
              <a:buSzPct val="119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Support data-driven decision-making through visualizations and analysis.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9817B-E477-CD0B-F691-83F8784446A3}"/>
              </a:ext>
            </a:extLst>
          </p:cNvPr>
          <p:cNvSpPr txBox="1"/>
          <p:nvPr/>
        </p:nvSpPr>
        <p:spPr>
          <a:xfrm>
            <a:off x="198782" y="43252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Project Overview:-</a:t>
            </a:r>
          </a:p>
        </p:txBody>
      </p:sp>
    </p:spTree>
    <p:extLst>
      <p:ext uri="{BB962C8B-B14F-4D97-AF65-F5344CB8AC3E}">
        <p14:creationId xmlns:p14="http://schemas.microsoft.com/office/powerpoint/2010/main" val="91022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21BC-78BF-DB85-FB50-CEFA16824A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974" y="514350"/>
            <a:ext cx="6718576" cy="763588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</a:rPr>
              <a:t>MARKET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OVERVIEW</a:t>
            </a:r>
            <a:br>
              <a:rPr lang="en-US" sz="2800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73A60-D960-7564-BD58-03E65BD2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36632"/>
            <a:ext cx="7704000" cy="455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68557" y="737298"/>
            <a:ext cx="4939747" cy="642937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Total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3706813"/>
            <a:ext cx="8229600" cy="2617787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The dataset contains 742 job postings, indicating strong demand for data professionals across multiple industries and locations.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Job seekers should focus on developing in-demand analytical and technical skills.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F01CE-5332-3916-B45E-24E3B9BE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55" y="1507090"/>
            <a:ext cx="4050890" cy="1751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49994" y="879794"/>
            <a:ext cx="4244009" cy="638727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Average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3858247"/>
            <a:ext cx="8229600" cy="2401887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The average salary across all job postings is approximately $101K.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Continuously improve technical and analytical skills to qualify for higher-paying positions.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56863-CCC4-ABFE-2315-8684DF076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821" y="1601873"/>
            <a:ext cx="3684357" cy="1564113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4752" y="766368"/>
            <a:ext cx="3875713" cy="763588"/>
          </a:xfrm>
        </p:spPr>
        <p:txBody>
          <a:bodyPr/>
          <a:lstStyle/>
          <a:p>
            <a:r>
              <a:rPr sz="3600" b="1" dirty="0">
                <a:solidFill>
                  <a:schemeClr val="bg1"/>
                </a:solidFill>
                <a:latin typeface="+mj-lt"/>
              </a:rPr>
              <a:t>Total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7808" y="4074354"/>
            <a:ext cx="8229600" cy="1828800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343 companies are actively hiring data professionals.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Explore opportunities across various industries.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3D691-BC31-CA9D-CD9D-84D7AEE1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752" y="1657568"/>
            <a:ext cx="3875713" cy="1357317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13993" y="593725"/>
            <a:ext cx="3656968" cy="763588"/>
          </a:xfrm>
        </p:spPr>
        <p:txBody>
          <a:bodyPr/>
          <a:lstStyle/>
          <a:p>
            <a:r>
              <a:rPr sz="3600" b="1" dirty="0">
                <a:solidFill>
                  <a:schemeClr val="bg1"/>
                </a:solidFill>
                <a:latin typeface="+mj-lt"/>
              </a:rPr>
              <a:t>Total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7677" y="3890963"/>
            <a:ext cx="8229600" cy="1949450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Data professionals are required across 60 industries.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Develop transferable skills applicable across sectors.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8EDB2-BD18-5F19-0AE5-666789F5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16" y="1486583"/>
            <a:ext cx="3656967" cy="12391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70382" y="593725"/>
            <a:ext cx="5814391" cy="763588"/>
          </a:xfrm>
        </p:spPr>
        <p:txBody>
          <a:bodyPr/>
          <a:lstStyle/>
          <a:p>
            <a:r>
              <a:rPr sz="3600" b="1" dirty="0">
                <a:solidFill>
                  <a:schemeClr val="bg1"/>
                </a:solidFill>
                <a:latin typeface="+mj-lt"/>
              </a:rPr>
              <a:t>Average Company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2777" y="3921678"/>
            <a:ext cx="8229600" cy="1828800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Insight</a:t>
            </a:r>
            <a:r>
              <a:rPr sz="2400" dirty="0">
                <a:solidFill>
                  <a:schemeClr val="bg1"/>
                </a:solidFill>
                <a:latin typeface="+mn-lt"/>
              </a:rPr>
              <a:t>: Average rating is 3.69.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Evaluate company culture alongside salary.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30D89-3CED-84FC-D509-225CEC33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838" y="1417638"/>
            <a:ext cx="4438323" cy="1416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42392" y="438140"/>
            <a:ext cx="6013174" cy="685542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Avg Salary by Job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4202113"/>
            <a:ext cx="8229600" cy="2411412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Director and Machine Learning roles receive the highest salaries.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Focus on advanced technical and leadership skills.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77BE0-BC2F-894E-B156-F824DA5A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45" y="1274909"/>
            <a:ext cx="5112774" cy="2745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44218" y="593725"/>
            <a:ext cx="6917635" cy="763588"/>
          </a:xfrm>
        </p:spPr>
        <p:txBody>
          <a:bodyPr/>
          <a:lstStyle/>
          <a:p>
            <a:pPr algn="ctr"/>
            <a:r>
              <a:rPr sz="3600" dirty="0">
                <a:solidFill>
                  <a:schemeClr val="bg1"/>
                </a:solidFill>
                <a:latin typeface="+mj-lt"/>
              </a:rPr>
              <a:t>Total Jobs by Job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8235" y="4824413"/>
            <a:ext cx="8229600" cy="1655762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Data Scientist is the most advertised role.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Prioritize Python, SQL, and ML skills.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BDDB2E-313A-47AE-0A35-6527000B5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1417637"/>
            <a:ext cx="5978012" cy="3045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15845" y="601041"/>
            <a:ext cx="5933661" cy="763588"/>
          </a:xfrm>
        </p:spPr>
        <p:txBody>
          <a:bodyPr/>
          <a:lstStyle/>
          <a:p>
            <a:pPr algn="ctr"/>
            <a:r>
              <a:rPr sz="3600" dirty="0">
                <a:solidFill>
                  <a:schemeClr val="bg1"/>
                </a:solidFill>
                <a:latin typeface="+mj-lt"/>
              </a:rPr>
              <a:t>Total Jobs by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4632" y="4787693"/>
            <a:ext cx="8229600" cy="1497013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Most jobs come from companies rated 3.5–4.0.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Target highly rated employers.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A07FD-2629-C867-14F9-0D3DA77AC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845" y="1417638"/>
            <a:ext cx="6027174" cy="3036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599" y="591102"/>
            <a:ext cx="6400800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Total Jobs by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4467225"/>
            <a:ext cx="8229600" cy="2174875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Opportunities are concentrated in major economic hubs.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Consider relocation for broader opportunities.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9D580-E28E-5EB1-FB8D-5A4C05855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96" y="1417638"/>
            <a:ext cx="6037007" cy="2780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92696" y="710854"/>
            <a:ext cx="6321287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Total Jobs by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38539" y="4903788"/>
            <a:ext cx="8229600" cy="1536700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Biotech &amp; Pharmaceuticals 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lead</a:t>
            </a:r>
            <a:r>
              <a:rPr sz="2400" dirty="0">
                <a:solidFill>
                  <a:schemeClr val="bg1"/>
                </a:solidFill>
                <a:latin typeface="+mn-lt"/>
              </a:rPr>
              <a:t> hiring demand.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Explore healthcare and biotech sectors.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F270E-8F5C-DE99-FECD-F7EB4AD2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71" y="1594339"/>
            <a:ext cx="5948516" cy="28077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1175" y="593725"/>
            <a:ext cx="7718425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Total Jobs by Company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4694376"/>
            <a:ext cx="8229600" cy="1968500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Most jobs are from medium and large organizations.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Target organizations with strong growth potential.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DA333-C10C-5D3C-A9D5-5F6CF6680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1" y="1508593"/>
            <a:ext cx="6046839" cy="28812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10D5-9773-4E46-5F4C-67701217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1CFF-285F-AE74-B016-3B8078378D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974" y="514350"/>
            <a:ext cx="6718576" cy="763588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</a:rPr>
              <a:t>SKILL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35D72-BEEF-E19E-A4DE-E3EDDD58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96" y="1384851"/>
            <a:ext cx="7722704" cy="495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3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63487" y="593725"/>
            <a:ext cx="6654938" cy="763588"/>
          </a:xfrm>
        </p:spPr>
        <p:txBody>
          <a:bodyPr/>
          <a:lstStyle/>
          <a:p>
            <a:pPr algn="ctr"/>
            <a:r>
              <a:rPr sz="3600" dirty="0">
                <a:solidFill>
                  <a:schemeClr val="bg1"/>
                </a:solidFill>
                <a:latin typeface="+mj-lt"/>
              </a:rPr>
              <a:t>H</a:t>
            </a:r>
            <a:r>
              <a:rPr sz="3600" b="1" dirty="0">
                <a:solidFill>
                  <a:schemeClr val="bg1"/>
                </a:solidFill>
                <a:latin typeface="+mj-lt"/>
              </a:rPr>
              <a:t>ighest Paying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47869" y="4052888"/>
            <a:ext cx="8229600" cy="1703387"/>
          </a:xfrm>
        </p:spPr>
        <p:txBody>
          <a:bodyPr>
            <a:normAutofit fontScale="925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Other 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retail stores offer</a:t>
            </a:r>
            <a:r>
              <a:rPr sz="2400" dirty="0">
                <a:solidFill>
                  <a:schemeClr val="bg1"/>
                </a:solidFill>
                <a:latin typeface="+mn-lt"/>
              </a:rPr>
              <a:t> the highest average salary.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Consider retail analytics opportunities.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ACE78-5E0B-389E-6EE0-38FFA957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581" y="1538385"/>
            <a:ext cx="4844838" cy="12673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02635" y="593725"/>
            <a:ext cx="6515790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Top Hiring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45730" y="4194667"/>
            <a:ext cx="8229600" cy="1516062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Takeda Pharmaceuticals is among the top recruiters.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Follow major hiring organizations.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0CDB6-AB6F-138D-09F5-A57FB7D69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36" y="1618127"/>
            <a:ext cx="4693728" cy="10456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92696" y="593725"/>
            <a:ext cx="6525729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Most In-Demand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3978551"/>
            <a:ext cx="8229600" cy="157638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Python is the most requested skill.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Master Python as a core skill.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11146-F4F2-06EE-51CE-76AF3BA96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87" y="1547201"/>
            <a:ext cx="4727226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5974" y="581163"/>
            <a:ext cx="7718425" cy="763588"/>
          </a:xfrm>
        </p:spPr>
        <p:txBody>
          <a:bodyPr/>
          <a:lstStyle/>
          <a:p>
            <a:r>
              <a:rPr sz="3600" b="1" dirty="0">
                <a:solidFill>
                  <a:schemeClr val="bg1"/>
                </a:solidFill>
                <a:latin typeface="+mj-lt"/>
              </a:rPr>
              <a:t>Job Postings Requiring Each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0386" y="4598988"/>
            <a:ext cx="8229600" cy="18288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Python, Excel, and SQL are the top three skills.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Build strong foundations in these technologies.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527717-A412-256D-0556-262E066E5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8" y="1417638"/>
            <a:ext cx="5388078" cy="28839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70991" y="593725"/>
            <a:ext cx="6247434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Average Salary by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962400"/>
            <a:ext cx="8229600" cy="2322513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Flink, Scikit-Learn, and Keras command the highest salaries.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Learn advanced ML and big-data technologies.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0F982-F52F-8EC6-DC72-7F0961831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95694"/>
            <a:ext cx="5525729" cy="26209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02635" y="593725"/>
            <a:ext cx="6515790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Skill Demand Percentage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4313237"/>
            <a:ext cx="8229600" cy="225425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Python, SQL, and Excel show the highest demand percentages.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Make these skills part of your learning roadmap.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0AABA-603C-FD3C-C18D-02E250B2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61" y="1417638"/>
            <a:ext cx="5083277" cy="26234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91478" y="593725"/>
            <a:ext cx="6326947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Average Salary by Degree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4525963"/>
            <a:ext cx="8229600" cy="18288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PhD holders earn the highest average salary.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Higher education can improve earning potential.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7F5C1A-8289-7FFB-154B-2F452F13F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677" y="1417638"/>
            <a:ext cx="4768645" cy="2595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21296" y="593725"/>
            <a:ext cx="6297129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Total Jobs by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5060" y="4532459"/>
            <a:ext cx="8229600" cy="1989137"/>
          </a:xfrm>
        </p:spPr>
        <p:txBody>
          <a:bodyPr>
            <a:normAutofit lnSpcReduction="10000"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A small number of companies account for significant hiring activity.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Target companies with consistent demand.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104B5-F4EE-8552-54A3-AF18B2E0E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213" y="1330972"/>
            <a:ext cx="5729574" cy="29263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99804" y="380325"/>
            <a:ext cx="6744390" cy="763588"/>
          </a:xfrm>
        </p:spPr>
        <p:txBody>
          <a:bodyPr/>
          <a:lstStyle/>
          <a:p>
            <a:pPr algn="ctr"/>
            <a:r>
              <a:rPr sz="3600" b="1" dirty="0">
                <a:solidFill>
                  <a:schemeClr val="bg1"/>
                </a:solidFill>
                <a:latin typeface="+mj-lt"/>
              </a:rPr>
              <a:t>Average Salary by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199" y="4480471"/>
            <a:ext cx="8229600" cy="2195513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Insight: Retail, Finance, Healthcare, and Telecom offer high salaries.</a:t>
            </a:r>
          </a:p>
          <a:p>
            <a:pPr>
              <a:buClr>
                <a:schemeClr val="bg1"/>
              </a:buClr>
            </a:pPr>
            <a:endParaRPr sz="2400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r>
              <a:rPr sz="2400" dirty="0">
                <a:solidFill>
                  <a:schemeClr val="bg1"/>
                </a:solidFill>
                <a:latin typeface="+mn-lt"/>
              </a:rPr>
              <a:t>Recommendation: Consider these sectors for long-term growth.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AD62D-EB16-5C9C-C712-8F39EA41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244" y="1279772"/>
            <a:ext cx="5629511" cy="292843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54025"/>
            <a:ext cx="3351213" cy="763588"/>
          </a:xfrm>
        </p:spPr>
        <p:txBody>
          <a:bodyPr/>
          <a:lstStyle/>
          <a:p>
            <a:r>
              <a:rPr sz="3600" b="1" dirty="0">
                <a:solidFill>
                  <a:schemeClr val="bg1"/>
                </a:solidFill>
                <a:latin typeface="+mj-lt"/>
              </a:rPr>
              <a:t>Conclusion</a:t>
            </a:r>
            <a:r>
              <a:rPr lang="en-US" sz="3600" b="1" dirty="0">
                <a:solidFill>
                  <a:schemeClr val="bg1"/>
                </a:solidFill>
                <a:latin typeface="+mj-lt"/>
              </a:rPr>
              <a:t>:-</a:t>
            </a:r>
            <a:endParaRPr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8417" y="1350963"/>
            <a:ext cx="8885583" cy="4665662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Analyzed </a:t>
            </a:r>
            <a:r>
              <a:rPr lang="en-US" sz="2400" b="1" dirty="0">
                <a:solidFill>
                  <a:schemeClr val="bg1"/>
                </a:solidFill>
                <a:latin typeface="+mn-lt"/>
              </a:rPr>
              <a:t>742 job postings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to identify key job market trends and hiring patterns.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 Found strong demand for data professionals across </a:t>
            </a:r>
            <a:r>
              <a:rPr lang="en-US" sz="2400" b="1" dirty="0">
                <a:solidFill>
                  <a:schemeClr val="bg1"/>
                </a:solidFill>
                <a:latin typeface="+mn-lt"/>
              </a:rPr>
              <a:t>multiple industries and locations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 Identified </a:t>
            </a:r>
            <a:r>
              <a:rPr lang="en-US" sz="2400" b="1" dirty="0">
                <a:solidFill>
                  <a:schemeClr val="bg1"/>
                </a:solidFill>
                <a:latin typeface="+mn-lt"/>
              </a:rPr>
              <a:t>Python, SQL, and Excel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as the most in-demand skills.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 Advanced machine learning and big data technologies are linked to higher-salary</a:t>
            </a:r>
            <a:r>
              <a:rPr lang="en-US" sz="2400" b="1" dirty="0">
                <a:solidFill>
                  <a:schemeClr val="bg1"/>
                </a:solidFill>
                <a:latin typeface="+mn-lt"/>
              </a:rPr>
              <a:t> opportunities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 Industries such as </a:t>
            </a:r>
            <a:r>
              <a:rPr lang="en-US" sz="2400" b="1" dirty="0">
                <a:solidFill>
                  <a:schemeClr val="bg1"/>
                </a:solidFill>
                <a:latin typeface="+mn-lt"/>
              </a:rPr>
              <a:t>Healthcare, Finance, Retail, and Technology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offer significant career prospects.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 Continuous skill development and practical experience are essential for long-term career growth</a:t>
            </a:r>
            <a:endParaRPr sz="24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ior Defense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90272E4-2FC4-465E-8FF5-0ABC23DB01B0}" vid="{CA94961C-C96E-467C-AA75-506358732403}"/>
    </a:ext>
  </a:extLst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000000"/>
    </a:dk2>
    <a:lt2>
      <a:srgbClr val="000000"/>
    </a:lt2>
    <a:accent1>
      <a:srgbClr val="FFFFFF"/>
    </a:accent1>
    <a:accent2>
      <a:srgbClr val="D9D5BA"/>
    </a:accent2>
    <a:accent3>
      <a:srgbClr val="4F5B4D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000000"/>
    </a:dk2>
    <a:lt2>
      <a:srgbClr val="000000"/>
    </a:lt2>
    <a:accent1>
      <a:srgbClr val="FFFFFF"/>
    </a:accent1>
    <a:accent2>
      <a:srgbClr val="D9D5BA"/>
    </a:accent2>
    <a:accent3>
      <a:srgbClr val="4F5B4D"/>
    </a:accent3>
    <a:accent4>
      <a:srgbClr val="FFFFFF"/>
    </a:accent4>
    <a:accent5>
      <a:srgbClr val="FFFFFF"/>
    </a:accent5>
    <a:accent6>
      <a:srgbClr val="FFFFFF"/>
    </a:accent6>
    <a:hlink>
      <a:srgbClr val="FFFF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Senior Defense by Slidesgo</Template>
  <TotalTime>225</TotalTime>
  <Words>678</Words>
  <Application>Microsoft Office PowerPoint</Application>
  <PresentationFormat>On-screen Show (4:3)</PresentationFormat>
  <Paragraphs>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Aptos</vt:lpstr>
      <vt:lpstr>Arial</vt:lpstr>
      <vt:lpstr>Arimo</vt:lpstr>
      <vt:lpstr>Darker Grotesque SemiBold</vt:lpstr>
      <vt:lpstr>Inter</vt:lpstr>
      <vt:lpstr>Open Sans</vt:lpstr>
      <vt:lpstr>Raleway</vt:lpstr>
      <vt:lpstr>Zalando Sans Expanded ExtraLight</vt:lpstr>
      <vt:lpstr>Zalando Sans Expanded Light</vt:lpstr>
      <vt:lpstr>Zalando Sans Expanded Medium</vt:lpstr>
      <vt:lpstr>Senior Defense by Slidesgo</vt:lpstr>
      <vt:lpstr>Slidesgo Final Pages</vt:lpstr>
      <vt:lpstr>Theme1</vt:lpstr>
      <vt:lpstr>1_Slidesgo Final Pages</vt:lpstr>
      <vt:lpstr>PowerPoint Presentation</vt:lpstr>
      <vt:lpstr>PowerPoint Presentation</vt:lpstr>
      <vt:lpstr>MARKET OVERVIEW </vt:lpstr>
      <vt:lpstr>Total Jobs</vt:lpstr>
      <vt:lpstr>Average Salary</vt:lpstr>
      <vt:lpstr>Total Companies</vt:lpstr>
      <vt:lpstr>Total Industries</vt:lpstr>
      <vt:lpstr>Average Company Rating</vt:lpstr>
      <vt:lpstr>Avg Salary by Job Title</vt:lpstr>
      <vt:lpstr>Total Jobs by Job Title</vt:lpstr>
      <vt:lpstr>Total Jobs by Rating</vt:lpstr>
      <vt:lpstr>Total Jobs by Location</vt:lpstr>
      <vt:lpstr>Total Jobs by Industry</vt:lpstr>
      <vt:lpstr>Total Jobs by Company Size</vt:lpstr>
      <vt:lpstr>SKILL ANALYSIS</vt:lpstr>
      <vt:lpstr>Highest Paying Industry</vt:lpstr>
      <vt:lpstr>Top Hiring Company</vt:lpstr>
      <vt:lpstr>Most In-Demand Skill</vt:lpstr>
      <vt:lpstr>Job Postings Requiring Each Skill</vt:lpstr>
      <vt:lpstr>Average Salary by Skills</vt:lpstr>
      <vt:lpstr>Skill Demand Percentage</vt:lpstr>
      <vt:lpstr>Average Salary by Degree</vt:lpstr>
      <vt:lpstr>Total Jobs by Company</vt:lpstr>
      <vt:lpstr>Average Salary by Industry</vt:lpstr>
      <vt:lpstr>Conclusion:-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Subhash</cp:lastModifiedBy>
  <cp:revision>4</cp:revision>
  <dcterms:created xsi:type="dcterms:W3CDTF">2013-01-27T09:14:16Z</dcterms:created>
  <dcterms:modified xsi:type="dcterms:W3CDTF">2026-06-16T07:43:20Z</dcterms:modified>
  <cp:category/>
</cp:coreProperties>
</file>